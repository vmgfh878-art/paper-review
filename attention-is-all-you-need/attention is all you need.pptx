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B9E01-31DD-433D-AC54-8AE62B603418}" v="4" dt="2026-02-19T03:23:21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. user" userId="b416c9170de16ac5" providerId="LiveId" clId="{C52BDF5B-97E1-477E-9AA3-D0B8A7C8A07E}"/>
    <pc:docChg chg="undo custSel modSld">
      <pc:chgData name=". user" userId="b416c9170de16ac5" providerId="LiveId" clId="{C52BDF5B-97E1-477E-9AA3-D0B8A7C8A07E}" dt="2026-02-19T03:24:13.433" v="140" actId="1076"/>
      <pc:docMkLst>
        <pc:docMk/>
      </pc:docMkLst>
      <pc:sldChg chg="modSp mod">
        <pc:chgData name=". user" userId="b416c9170de16ac5" providerId="LiveId" clId="{C52BDF5B-97E1-477E-9AA3-D0B8A7C8A07E}" dt="2026-02-19T03:23:51.240" v="138" actId="1036"/>
        <pc:sldMkLst>
          <pc:docMk/>
          <pc:sldMk cId="0" sldId="258"/>
        </pc:sldMkLst>
        <pc:spChg chg="mod">
          <ac:chgData name=". user" userId="b416c9170de16ac5" providerId="LiveId" clId="{C52BDF5B-97E1-477E-9AA3-D0B8A7C8A07E}" dt="2026-02-19T03:23:21.825" v="136"/>
          <ac:spMkLst>
            <pc:docMk/>
            <pc:sldMk cId="0" sldId="258"/>
            <ac:spMk id="29" creationId="{00000000-0000-0000-0000-000000000000}"/>
          </ac:spMkLst>
        </pc:spChg>
        <pc:picChg chg="mod">
          <ac:chgData name=". user" userId="b416c9170de16ac5" providerId="LiveId" clId="{C52BDF5B-97E1-477E-9AA3-D0B8A7C8A07E}" dt="2026-02-19T03:23:51.240" v="138" actId="1036"/>
          <ac:picMkLst>
            <pc:docMk/>
            <pc:sldMk cId="0" sldId="258"/>
            <ac:picMk id="3" creationId="{00000000-0000-0000-0000-000000000000}"/>
          </ac:picMkLst>
        </pc:picChg>
      </pc:sldChg>
      <pc:sldChg chg="modSp mod">
        <pc:chgData name=". user" userId="b416c9170de16ac5" providerId="LiveId" clId="{C52BDF5B-97E1-477E-9AA3-D0B8A7C8A07E}" dt="2026-02-19T03:24:13.433" v="140" actId="1076"/>
        <pc:sldMkLst>
          <pc:docMk/>
          <pc:sldMk cId="0" sldId="259"/>
        </pc:sldMkLst>
        <pc:spChg chg="mod">
          <ac:chgData name=". user" userId="b416c9170de16ac5" providerId="LiveId" clId="{C52BDF5B-97E1-477E-9AA3-D0B8A7C8A07E}" dt="2026-02-19T03:24:13.433" v="140" actId="1076"/>
          <ac:spMkLst>
            <pc:docMk/>
            <pc:sldMk cId="0" sldId="259"/>
            <ac:spMk id="12" creationId="{00000000-0000-0000-0000-000000000000}"/>
          </ac:spMkLst>
        </pc:spChg>
      </pc:sldChg>
      <pc:sldChg chg="addSp delSp modSp mod">
        <pc:chgData name=". user" userId="b416c9170de16ac5" providerId="LiveId" clId="{C52BDF5B-97E1-477E-9AA3-D0B8A7C8A07E}" dt="2026-02-19T02:04:15.654" v="83" actId="1036"/>
        <pc:sldMkLst>
          <pc:docMk/>
          <pc:sldMk cId="0" sldId="260"/>
        </pc:sldMkLst>
        <pc:spChg chg="del">
          <ac:chgData name=". user" userId="b416c9170de16ac5" providerId="LiveId" clId="{C52BDF5B-97E1-477E-9AA3-D0B8A7C8A07E}" dt="2026-02-19T02:01:47.333" v="75" actId="47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. user" userId="b416c9170de16ac5" providerId="LiveId" clId="{C52BDF5B-97E1-477E-9AA3-D0B8A7C8A07E}" dt="2026-02-19T02:01:45.989" v="74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. user" userId="b416c9170de16ac5" providerId="LiveId" clId="{C52BDF5B-97E1-477E-9AA3-D0B8A7C8A07E}" dt="2026-02-19T02:02:53.544" v="76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. user" userId="b416c9170de16ac5" providerId="LiveId" clId="{C52BDF5B-97E1-477E-9AA3-D0B8A7C8A07E}" dt="2026-02-19T02:02:59.497" v="77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. user" userId="b416c9170de16ac5" providerId="LiveId" clId="{C52BDF5B-97E1-477E-9AA3-D0B8A7C8A07E}" dt="2026-02-19T02:03:10.978" v="80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. user" userId="b416c9170de16ac5" providerId="LiveId" clId="{C52BDF5B-97E1-477E-9AA3-D0B8A7C8A07E}" dt="2026-02-19T02:03:15.781" v="81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. user" userId="b416c9170de16ac5" providerId="LiveId" clId="{C52BDF5B-97E1-477E-9AA3-D0B8A7C8A07E}" dt="2026-02-19T01:56:03.516" v="71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. user" userId="b416c9170de16ac5" providerId="LiveId" clId="{C52BDF5B-97E1-477E-9AA3-D0B8A7C8A07E}" dt="2026-02-19T01:52:28.093" v="8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. user" userId="b416c9170de16ac5" providerId="LiveId" clId="{C52BDF5B-97E1-477E-9AA3-D0B8A7C8A07E}" dt="2026-02-19T01:52:48.922" v="10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. user" userId="b416c9170de16ac5" providerId="LiveId" clId="{C52BDF5B-97E1-477E-9AA3-D0B8A7C8A07E}" dt="2026-02-19T01:53:49.802" v="21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. user" userId="b416c9170de16ac5" providerId="LiveId" clId="{C52BDF5B-97E1-477E-9AA3-D0B8A7C8A07E}" dt="2026-02-19T01:55:54.775" v="69" actId="1076"/>
          <ac:spMkLst>
            <pc:docMk/>
            <pc:sldMk cId="0" sldId="260"/>
            <ac:spMk id="24" creationId="{00000000-0000-0000-0000-000000000000}"/>
          </ac:spMkLst>
        </pc:spChg>
        <pc:spChg chg="add mod">
          <ac:chgData name=". user" userId="b416c9170de16ac5" providerId="LiveId" clId="{C52BDF5B-97E1-477E-9AA3-D0B8A7C8A07E}" dt="2026-02-19T01:55:59.782" v="70" actId="1076"/>
          <ac:spMkLst>
            <pc:docMk/>
            <pc:sldMk cId="0" sldId="260"/>
            <ac:spMk id="36" creationId="{601CB67F-95C3-CB4B-8112-D942B711E00B}"/>
          </ac:spMkLst>
        </pc:spChg>
        <pc:picChg chg="mod">
          <ac:chgData name=". user" userId="b416c9170de16ac5" providerId="LiveId" clId="{C52BDF5B-97E1-477E-9AA3-D0B8A7C8A07E}" dt="2026-02-19T02:04:15.654" v="83" actId="1036"/>
          <ac:picMkLst>
            <pc:docMk/>
            <pc:sldMk cId="0" sldId="260"/>
            <ac:picMk id="3" creationId="{00000000-0000-0000-0000-000000000000}"/>
          </ac:picMkLst>
        </pc:picChg>
        <pc:picChg chg="mod">
          <ac:chgData name=". user" userId="b416c9170de16ac5" providerId="LiveId" clId="{C52BDF5B-97E1-477E-9AA3-D0B8A7C8A07E}" dt="2026-02-19T01:52:05.650" v="3" actId="1076"/>
          <ac:picMkLst>
            <pc:docMk/>
            <pc:sldMk cId="0" sldId="260"/>
            <ac:picMk id="11" creationId="{00000000-0000-0000-0000-000000000000}"/>
          </ac:picMkLst>
        </pc:picChg>
        <pc:picChg chg="mod">
          <ac:chgData name=". user" userId="b416c9170de16ac5" providerId="LiveId" clId="{C52BDF5B-97E1-477E-9AA3-D0B8A7C8A07E}" dt="2026-02-19T01:52:19.369" v="6" actId="1076"/>
          <ac:picMkLst>
            <pc:docMk/>
            <pc:sldMk cId="0" sldId="260"/>
            <ac:picMk id="17" creationId="{00000000-0000-0000-0000-000000000000}"/>
          </ac:picMkLst>
        </pc:picChg>
        <pc:picChg chg="mod">
          <ac:chgData name=". user" userId="b416c9170de16ac5" providerId="LiveId" clId="{C52BDF5B-97E1-477E-9AA3-D0B8A7C8A07E}" dt="2026-02-19T01:52:41.536" v="9" actId="1076"/>
          <ac:picMkLst>
            <pc:docMk/>
            <pc:sldMk cId="0" sldId="260"/>
            <ac:picMk id="20" creationId="{00000000-0000-0000-0000-000000000000}"/>
          </ac:picMkLst>
        </pc:picChg>
        <pc:picChg chg="mod">
          <ac:chgData name=". user" userId="b416c9170de16ac5" providerId="LiveId" clId="{C52BDF5B-97E1-477E-9AA3-D0B8A7C8A07E}" dt="2026-02-19T01:52:57.096" v="12" actId="1076"/>
          <ac:picMkLst>
            <pc:docMk/>
            <pc:sldMk cId="0" sldId="260"/>
            <ac:picMk id="23" creationId="{00000000-0000-0000-0000-000000000000}"/>
          </ac:picMkLst>
        </pc:picChg>
        <pc:picChg chg="add del mod">
          <ac:chgData name=". user" userId="b416c9170de16ac5" providerId="LiveId" clId="{C52BDF5B-97E1-477E-9AA3-D0B8A7C8A07E}" dt="2026-02-19T01:53:16.910" v="18" actId="931"/>
          <ac:picMkLst>
            <pc:docMk/>
            <pc:sldMk cId="0" sldId="260"/>
            <ac:picMk id="35" creationId="{5A4DAF21-62EA-375B-B549-E59A8576B35E}"/>
          </ac:picMkLst>
        </pc:picChg>
      </pc:sldChg>
      <pc:sldChg chg="modSp mod">
        <pc:chgData name=". user" userId="b416c9170de16ac5" providerId="LiveId" clId="{C52BDF5B-97E1-477E-9AA3-D0B8A7C8A07E}" dt="2026-02-19T02:16:49.851" v="88" actId="1036"/>
        <pc:sldMkLst>
          <pc:docMk/>
          <pc:sldMk cId="0" sldId="261"/>
        </pc:sldMkLst>
        <pc:spChg chg="mod">
          <ac:chgData name=". user" userId="b416c9170de16ac5" providerId="LiveId" clId="{C52BDF5B-97E1-477E-9AA3-D0B8A7C8A07E}" dt="2026-02-19T02:05:53.372" v="86" actId="1410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. user" userId="b416c9170de16ac5" providerId="LiveId" clId="{C52BDF5B-97E1-477E-9AA3-D0B8A7C8A07E}" dt="2026-02-19T02:05:33.044" v="84" actId="1076"/>
          <ac:spMkLst>
            <pc:docMk/>
            <pc:sldMk cId="0" sldId="261"/>
            <ac:spMk id="32" creationId="{00000000-0000-0000-0000-000000000000}"/>
          </ac:spMkLst>
        </pc:spChg>
        <pc:picChg chg="mod">
          <ac:chgData name=". user" userId="b416c9170de16ac5" providerId="LiveId" clId="{C52BDF5B-97E1-477E-9AA3-D0B8A7C8A07E}" dt="2026-02-19T02:16:49.851" v="88" actId="1036"/>
          <ac:picMkLst>
            <pc:docMk/>
            <pc:sldMk cId="0" sldId="261"/>
            <ac:picMk id="3" creationId="{00000000-0000-0000-0000-000000000000}"/>
          </ac:picMkLst>
        </pc:picChg>
      </pc:sldChg>
      <pc:sldChg chg="delSp modSp mod">
        <pc:chgData name=". user" userId="b416c9170de16ac5" providerId="LiveId" clId="{C52BDF5B-97E1-477E-9AA3-D0B8A7C8A07E}" dt="2026-02-19T02:18:18.137" v="124" actId="14100"/>
        <pc:sldMkLst>
          <pc:docMk/>
          <pc:sldMk cId="0" sldId="262"/>
        </pc:sldMkLst>
        <pc:spChg chg="mod">
          <ac:chgData name=". user" userId="b416c9170de16ac5" providerId="LiveId" clId="{C52BDF5B-97E1-477E-9AA3-D0B8A7C8A07E}" dt="2026-02-19T02:17:06.409" v="93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. user" userId="b416c9170de16ac5" providerId="LiveId" clId="{C52BDF5B-97E1-477E-9AA3-D0B8A7C8A07E}" dt="2026-02-19T02:17:58.388" v="122" actId="14100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. user" userId="b416c9170de16ac5" providerId="LiveId" clId="{C52BDF5B-97E1-477E-9AA3-D0B8A7C8A07E}" dt="2026-02-19T02:17:29.690" v="100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. user" userId="b416c9170de16ac5" providerId="LiveId" clId="{C52BDF5B-97E1-477E-9AA3-D0B8A7C8A07E}" dt="2026-02-19T02:18:04.858" v="123" actId="1410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. user" userId="b416c9170de16ac5" providerId="LiveId" clId="{C52BDF5B-97E1-477E-9AA3-D0B8A7C8A07E}" dt="2026-02-19T02:18:18.137" v="124" actId="14100"/>
          <ac:spMkLst>
            <pc:docMk/>
            <pc:sldMk cId="0" sldId="262"/>
            <ac:spMk id="25" creationId="{00000000-0000-0000-0000-000000000000}"/>
          </ac:spMkLst>
        </pc:spChg>
        <pc:picChg chg="del">
          <ac:chgData name=". user" userId="b416c9170de16ac5" providerId="LiveId" clId="{C52BDF5B-97E1-477E-9AA3-D0B8A7C8A07E}" dt="2026-02-19T02:17:31.652" v="101" actId="478"/>
          <ac:picMkLst>
            <pc:docMk/>
            <pc:sldMk cId="0" sldId="262"/>
            <ac:picMk id="14" creationId="{00000000-0000-0000-0000-000000000000}"/>
          </ac:picMkLst>
        </pc:picChg>
      </pc:sldChg>
      <pc:sldChg chg="modSp mod">
        <pc:chgData name=". user" userId="b416c9170de16ac5" providerId="LiveId" clId="{C52BDF5B-97E1-477E-9AA3-D0B8A7C8A07E}" dt="2026-02-19T02:19:28.861" v="127" actId="1076"/>
        <pc:sldMkLst>
          <pc:docMk/>
          <pc:sldMk cId="0" sldId="264"/>
        </pc:sldMkLst>
        <pc:spChg chg="mod">
          <ac:chgData name=". user" userId="b416c9170de16ac5" providerId="LiveId" clId="{C52BDF5B-97E1-477E-9AA3-D0B8A7C8A07E}" dt="2026-02-19T02:19:28.861" v="127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. user" userId="b416c9170de16ac5" providerId="LiveId" clId="{C52BDF5B-97E1-477E-9AA3-D0B8A7C8A07E}" dt="2026-02-19T02:19:25.791" v="126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. user" userId="b416c9170de16ac5" providerId="LiveId" clId="{C52BDF5B-97E1-477E-9AA3-D0B8A7C8A07E}" dt="2026-02-19T02:19:18.489" v="125" actId="1076"/>
          <ac:spMkLst>
            <pc:docMk/>
            <pc:sldMk cId="0" sldId="264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19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5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4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rcRect/>
          <a:stretch/>
        </p:blipFill>
        <p:spPr>
          <a:xfrm>
            <a:off x="7429500" y="571500"/>
            <a:ext cx="5715000" cy="5715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52805" y="1369771"/>
            <a:ext cx="10782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Paper Review Presentation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952805" y="1865376"/>
            <a:ext cx="1084021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Attention Is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0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You Need </a:t>
            </a:r>
            <a:endParaRPr lang="en-US" sz="5400" dirty="0"/>
          </a:p>
        </p:txBody>
      </p:sp>
      <p:sp>
        <p:nvSpPr>
          <p:cNvPr id="7" name="Shape 3"/>
          <p:cNvSpPr/>
          <p:nvPr/>
        </p:nvSpPr>
        <p:spPr>
          <a:xfrm>
            <a:off x="952805" y="3602736"/>
            <a:ext cx="57607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1238098" y="3602736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NIPS 2017 · Vaswani et al.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4668926"/>
            <a:ext cx="10858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발표자: 김지형</a:t>
            </a:r>
            <a:endParaRPr lang="en-US" sz="2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520293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95705" y="5145329"/>
            <a:ext cx="11823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세종대학교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0" y="0"/>
            <a:ext cx="114300" cy="933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161849"/>
            <a:ext cx="321503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1333195"/>
            <a:ext cx="171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038758" y="1333195"/>
            <a:ext cx="64547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RNN/LSTM 기반의 Seq2Seq 모델이 NLP 분야를 지배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1904695"/>
            <a:ext cx="171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038758" y="1904695"/>
            <a:ext cx="70582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 처리(Sequential computation)로 인한 병렬화 불가능</a:t>
            </a:r>
            <a:endParaRPr lang="en-US" sz="2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25" r="-25"/>
          <a:stretch/>
        </p:blipFill>
        <p:spPr>
          <a:xfrm>
            <a:off x="761695" y="2572207"/>
            <a:ext cx="10668305" cy="7717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04595" y="2762402"/>
            <a:ext cx="101544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"Recurrence 없이 Attention만으로 충분하다"</a:t>
            </a:r>
            <a:endParaRPr lang="en-US" sz="2100" dirty="0"/>
          </a:p>
        </p:txBody>
      </p:sp>
      <p:sp>
        <p:nvSpPr>
          <p:cNvPr id="14" name="Shape 9"/>
          <p:cNvSpPr/>
          <p:nvPr/>
        </p:nvSpPr>
        <p:spPr>
          <a:xfrm>
            <a:off x="761695" y="3725266"/>
            <a:ext cx="10668305" cy="3066898"/>
          </a:xfrm>
          <a:prstGeom prst="roundRect">
            <a:avLst>
              <a:gd name="adj" fmla="val 148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1057046" y="3924605"/>
            <a:ext cx="10191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Sequence Model Evolution</a:t>
            </a:r>
            <a:endParaRPr lang="en-US" sz="1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401" b="-401"/>
          <a:stretch/>
        </p:blipFill>
        <p:spPr>
          <a:xfrm>
            <a:off x="1533449" y="4734763"/>
            <a:ext cx="9124798" cy="384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42746" y="6363310"/>
            <a:ext cx="10191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Vaswani et al., 2017, Section 1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2385670" y="5106010"/>
            <a:ext cx="781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~2014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1438351" y="5496458"/>
            <a:ext cx="2667305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1552651" y="5601614"/>
            <a:ext cx="24387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RNN / LSTM / GRU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Sequential Processing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2638044" y="4601261"/>
            <a:ext cx="267005" cy="267005"/>
          </a:xfrm>
          <a:prstGeom prst="ellipse">
            <a:avLst/>
          </a:prstGeom>
          <a:solidFill>
            <a:srgbClr val="FFFFFF"/>
          </a:solidFill>
          <a:ln w="635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5779008" y="5106010"/>
            <a:ext cx="6382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762195" y="5496458"/>
            <a:ext cx="2667305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876495" y="5601614"/>
            <a:ext cx="24387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Seq2Seq + Attention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Bahdanau et al.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962802" y="4601261"/>
            <a:ext cx="267005" cy="267005"/>
          </a:xfrm>
          <a:prstGeom prst="ellipse">
            <a:avLst/>
          </a:prstGeom>
          <a:solidFill>
            <a:srgbClr val="FFFFFF"/>
          </a:solidFill>
          <a:ln w="635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9103766" y="5106010"/>
            <a:ext cx="6382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8086954" y="5496458"/>
            <a:ext cx="2667305" cy="819302"/>
          </a:xfrm>
          <a:prstGeom prst="roundRect">
            <a:avLst>
              <a:gd name="adj" fmla="val 1038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8201254" y="5601614"/>
            <a:ext cx="24387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Pure Attention Mechanism</a:t>
            </a:r>
            <a:endParaRPr lang="en-US" sz="15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60129" y="4574743"/>
            <a:ext cx="320040" cy="3200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0" y="6381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381305" y="6515100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1390681" y="6515100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862" y="5862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0" y="0"/>
            <a:ext cx="114300" cy="933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226771"/>
            <a:ext cx="644103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Background: 기존 모델의 한계</a:t>
            </a:r>
            <a:endParaRPr lang="en-US" sz="3100" dirty="0"/>
          </a:p>
        </p:txBody>
      </p:sp>
      <p:sp>
        <p:nvSpPr>
          <p:cNvPr id="8" name="Shape 4"/>
          <p:cNvSpPr/>
          <p:nvPr/>
        </p:nvSpPr>
        <p:spPr>
          <a:xfrm>
            <a:off x="761695" y="1190549"/>
            <a:ext cx="5143500" cy="1628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761695" y="1190549"/>
            <a:ext cx="57607" cy="162854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009498" y="1190549"/>
            <a:ext cx="5010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RNN: Sequential Processing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1238098" y="1686154"/>
            <a:ext cx="4858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순차적 계산:</a:t>
            </a: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완료 후  시작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646" y="1695298"/>
            <a:ext cx="485546" cy="3145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28646" y="1695298"/>
            <a:ext cx="48646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238" y="1695298"/>
            <a:ext cx="237744" cy="3145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736238" y="1695298"/>
            <a:ext cx="238658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238098" y="2067458"/>
            <a:ext cx="4858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병렬화 불가:</a:t>
            </a: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GPU 자원 낭비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238098" y="2441448"/>
            <a:ext cx="4858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상태 의존성 → 계산 병목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761695" y="3099816"/>
            <a:ext cx="5143500" cy="1628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761695" y="3099816"/>
            <a:ext cx="57607" cy="162854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1009498" y="3099816"/>
            <a:ext cx="5010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RNN: Long-term Dependency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1238098" y="3595421"/>
            <a:ext cx="47823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길이:</a:t>
            </a: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(Seq</a:t>
            </a:r>
            <a:r>
              <a:rPr lang="ko-KR" alt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　</a:t>
            </a:r>
            <a:endParaRPr lang="en-US" sz="18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334" y="3605479"/>
            <a:ext cx="609905" cy="31455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218334" y="3605479"/>
            <a:ext cx="565897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3977640"/>
            <a:ext cx="4858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문장에서 초기 정보 손실/왜곡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1238098" y="4350715"/>
            <a:ext cx="47823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Gradient Vanishing:</a:t>
            </a: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학습 불안정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6286500" y="1190549"/>
            <a:ext cx="5143500" cy="16386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6286500" y="1190549"/>
            <a:ext cx="57607" cy="163860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6534302" y="1190549"/>
            <a:ext cx="5010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CNN: Convolutional Limits</a:t>
            </a:r>
            <a:endParaRPr lang="en-US" sz="2100" dirty="0"/>
          </a:p>
        </p:txBody>
      </p:sp>
      <p:sp>
        <p:nvSpPr>
          <p:cNvPr id="29" name="Text 22"/>
          <p:cNvSpPr txBox="1"/>
          <p:nvPr/>
        </p:nvSpPr>
        <p:spPr>
          <a:xfrm>
            <a:off x="6762902" y="1686154"/>
            <a:ext cx="47823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Receptive Field:</a:t>
            </a: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Kernel size  </a:t>
            </a:r>
            <a:r>
              <a:rPr lang="en-US" sz="18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</a:t>
            </a:r>
            <a:r>
              <a:rPr lang="ko-KR" alt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</a:t>
            </a:r>
            <a:endParaRPr lang="en-US" sz="18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1695298"/>
            <a:ext cx="237744" cy="31455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38944" y="1695298"/>
            <a:ext cx="238658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762902" y="2067458"/>
            <a:ext cx="4858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장거리 의존성 위해 깊은 층 필요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6762902" y="2441448"/>
            <a:ext cx="4858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길이:</a:t>
            </a:r>
            <a:endParaRPr lang="en-US" sz="18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6174" y="2450592"/>
            <a:ext cx="1476756" cy="31455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796174" y="2450592"/>
            <a:ext cx="1476756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4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O(log_k(n))</a:t>
            </a:r>
            <a:endParaRPr lang="en-US" sz="1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500" y="3108960"/>
          <a:ext cx="5134356" cy="1752904"/>
        </p:xfrm>
        <a:graphic>
          <a:graphicData uri="http://schemas.openxmlformats.org/drawingml/2006/table">
            <a:tbl>
              <a:tblPr/>
              <a:tblGrid>
                <a:gridCol w="1854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2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Model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Complexity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Path Length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2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RNN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O(n)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O(n)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2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CNN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O(log n)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O(log n)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2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Transformer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O(1)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O(1)</a:t>
                      </a:r>
                      <a:endParaRPr lang="en-US" sz="16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hape 27"/>
          <p:cNvSpPr/>
          <p:nvPr/>
        </p:nvSpPr>
        <p:spPr>
          <a:xfrm>
            <a:off x="6286500" y="5048402"/>
            <a:ext cx="5143500" cy="123809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/>
          <p:cNvSpPr txBox="1"/>
          <p:nvPr/>
        </p:nvSpPr>
        <p:spPr>
          <a:xfrm>
            <a:off x="6314846" y="5134356"/>
            <a:ext cx="5086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Comparison: Path Length</a:t>
            </a:r>
            <a:endParaRPr lang="en-US" sz="10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9"/>
          <a:srcRect l="-10692" r="-10692"/>
          <a:stretch/>
        </p:blipFill>
        <p:spPr>
          <a:xfrm>
            <a:off x="6372454" y="5381244"/>
            <a:ext cx="4972507" cy="81930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0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761695" y="6510528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43" name="Text 32"/>
          <p:cNvSpPr txBox="1"/>
          <p:nvPr/>
        </p:nvSpPr>
        <p:spPr>
          <a:xfrm>
            <a:off x="11009376" y="6510528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0" y="0"/>
            <a:ext cx="114300" cy="933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223114"/>
            <a:ext cx="447415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Motivation &amp; Goal</a:t>
            </a:r>
            <a:endParaRPr lang="en-US" sz="3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21" b="-21"/>
          <a:stretch/>
        </p:blipFill>
        <p:spPr>
          <a:xfrm>
            <a:off x="761695" y="1238098"/>
            <a:ext cx="3916375" cy="136519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1949" y="1380744"/>
            <a:ext cx="36868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Recurrence를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완전히 제거하자</a:t>
            </a:r>
            <a:endParaRPr lang="en-US" sz="2100" dirty="0"/>
          </a:p>
        </p:txBody>
      </p:sp>
      <p:sp>
        <p:nvSpPr>
          <p:cNvPr id="10" name="Text 5"/>
          <p:cNvSpPr txBox="1"/>
          <p:nvPr/>
        </p:nvSpPr>
        <p:spPr>
          <a:xfrm>
            <a:off x="961949" y="2155241"/>
            <a:ext cx="3696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Mechanism Only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841041"/>
            <a:ext cx="401513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완전한 병렬화 (Fully Parallelizable)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54380" y="3398825"/>
            <a:ext cx="400598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토큰을 동시에 처리하여 GPU 자원 활용 극대화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4311396"/>
            <a:ext cx="411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상수 시간 연결</a:t>
            </a:r>
            <a:endParaRPr lang="en-US" sz="1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1059" y="4359859"/>
            <a:ext cx="609905" cy="28620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531059" y="4359859"/>
            <a:ext cx="6099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4693615"/>
            <a:ext cx="400598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단어 간 직접 연결 (Direct Access)로 경로 최소화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5488229"/>
            <a:ext cx="433334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장기 의존성 해결 (Long-range)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5849417"/>
            <a:ext cx="400598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길이에 상관없이 정보 손실 없는 학습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5155387" y="1143000"/>
            <a:ext cx="6277356" cy="5048402"/>
          </a:xfrm>
          <a:prstGeom prst="roundRect">
            <a:avLst>
              <a:gd name="adj" fmla="val 4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5298034" y="1928470"/>
            <a:ext cx="5992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Sequential vs. Direct Connection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354726" y="2462479"/>
            <a:ext cx="5876849" cy="1143000"/>
          </a:xfrm>
          <a:prstGeom prst="roundRect">
            <a:avLst>
              <a:gd name="adj" fmla="val 5333"/>
            </a:avLst>
          </a:prstGeom>
          <a:solidFill>
            <a:srgbClr val="FFFAFA"/>
          </a:solidFill>
          <a:ln w="254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6450178" y="2714854"/>
            <a:ext cx="19202" cy="638251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5516575" y="2714854"/>
            <a:ext cx="5239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RNN</a:t>
            </a:r>
            <a:endParaRPr lang="en-US" sz="15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6575" y="3066898"/>
            <a:ext cx="514807" cy="28620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16575" y="3066898"/>
            <a:ext cx="5148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9575" y="2819095"/>
            <a:ext cx="428854" cy="42885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59575" y="2819095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8717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7183526" y="2842870"/>
            <a:ext cx="314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➜</a:t>
            </a:r>
            <a:endParaRPr lang="en-US" sz="2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4539" y="2819095"/>
            <a:ext cx="428854" cy="42885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514539" y="2819095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8717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8038490" y="2842870"/>
            <a:ext cx="314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➜</a:t>
            </a:r>
            <a:endParaRPr lang="en-US" sz="20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503" y="2819095"/>
            <a:ext cx="428854" cy="42885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369503" y="2819095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8717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400" dirty="0"/>
          </a:p>
        </p:txBody>
      </p:sp>
      <p:sp>
        <p:nvSpPr>
          <p:cNvPr id="34" name="Text 24"/>
          <p:cNvSpPr txBox="1"/>
          <p:nvPr/>
        </p:nvSpPr>
        <p:spPr>
          <a:xfrm>
            <a:off x="8892540" y="2842870"/>
            <a:ext cx="314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➜</a:t>
            </a:r>
            <a:endParaRPr lang="en-US" sz="20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3553" y="2819095"/>
            <a:ext cx="428854" cy="42885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223553" y="2819095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8717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400" dirty="0"/>
          </a:p>
        </p:txBody>
      </p:sp>
      <p:sp>
        <p:nvSpPr>
          <p:cNvPr id="37" name="Text 26"/>
          <p:cNvSpPr txBox="1"/>
          <p:nvPr/>
        </p:nvSpPr>
        <p:spPr>
          <a:xfrm>
            <a:off x="10004450" y="2786177"/>
            <a:ext cx="1067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Long Path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(Sequential) 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5354726" y="3795674"/>
            <a:ext cx="5876849" cy="1609344"/>
          </a:xfrm>
          <a:prstGeom prst="roundRect">
            <a:avLst>
              <a:gd name="adj" fmla="val 2690"/>
            </a:avLst>
          </a:prstGeom>
          <a:solidFill>
            <a:srgbClr val="F0FDF4"/>
          </a:solidFill>
          <a:ln w="254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8"/>
          <p:cNvSpPr/>
          <p:nvPr/>
        </p:nvSpPr>
        <p:spPr>
          <a:xfrm>
            <a:off x="6450178" y="4281221"/>
            <a:ext cx="19202" cy="638251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9"/>
          <p:cNvSpPr txBox="1"/>
          <p:nvPr/>
        </p:nvSpPr>
        <p:spPr>
          <a:xfrm>
            <a:off x="5516575" y="4281221"/>
            <a:ext cx="8275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Transf.</a:t>
            </a:r>
            <a:endParaRPr lang="en-US" sz="15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6575" y="4634179"/>
            <a:ext cx="514807" cy="28620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516575" y="4634179"/>
            <a:ext cx="5148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3957523"/>
            <a:ext cx="1276502" cy="41879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229600" y="3957523"/>
            <a:ext cx="1276502" cy="41971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400" dirty="0"/>
          </a:p>
        </p:txBody>
      </p:sp>
      <p:sp>
        <p:nvSpPr>
          <p:cNvPr id="45" name="Text 32"/>
          <p:cNvSpPr txBox="1"/>
          <p:nvPr/>
        </p:nvSpPr>
        <p:spPr>
          <a:xfrm>
            <a:off x="7835494" y="4424782"/>
            <a:ext cx="305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⇧</a:t>
            </a:r>
            <a:endParaRPr lang="en-US" sz="1800" dirty="0"/>
          </a:p>
        </p:txBody>
      </p:sp>
      <p:sp>
        <p:nvSpPr>
          <p:cNvPr id="46" name="Text 33"/>
          <p:cNvSpPr txBox="1"/>
          <p:nvPr/>
        </p:nvSpPr>
        <p:spPr>
          <a:xfrm>
            <a:off x="8396935" y="4424782"/>
            <a:ext cx="305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⇧</a:t>
            </a:r>
            <a:endParaRPr lang="en-US" sz="1800" dirty="0"/>
          </a:p>
        </p:txBody>
      </p:sp>
      <p:sp>
        <p:nvSpPr>
          <p:cNvPr id="47" name="Text 34"/>
          <p:cNvSpPr txBox="1"/>
          <p:nvPr/>
        </p:nvSpPr>
        <p:spPr>
          <a:xfrm>
            <a:off x="8959291" y="4424782"/>
            <a:ext cx="305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⇧</a:t>
            </a:r>
            <a:endParaRPr lang="en-US" sz="1800" dirty="0"/>
          </a:p>
        </p:txBody>
      </p:sp>
      <p:sp>
        <p:nvSpPr>
          <p:cNvPr id="48" name="Text 35"/>
          <p:cNvSpPr txBox="1"/>
          <p:nvPr/>
        </p:nvSpPr>
        <p:spPr>
          <a:xfrm>
            <a:off x="9520733" y="4424782"/>
            <a:ext cx="305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⇧</a:t>
            </a:r>
            <a:endParaRPr lang="en-US" sz="18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2517" y="4815230"/>
            <a:ext cx="428854" cy="42885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7792517" y="4815230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400" dirty="0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4017" y="4815230"/>
            <a:ext cx="428854" cy="428854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8364017" y="4815230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1400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5517" y="4815230"/>
            <a:ext cx="428854" cy="428854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8935517" y="4815230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</a:t>
            </a:r>
            <a:endParaRPr lang="en-US" sz="1400" dirty="0"/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7017" y="4815230"/>
            <a:ext cx="428854" cy="428854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9507017" y="4815230"/>
            <a:ext cx="428854" cy="42885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x4</a:t>
            </a:r>
            <a:endParaRPr lang="en-US" sz="1400" dirty="0"/>
          </a:p>
        </p:txBody>
      </p:sp>
      <p:sp>
        <p:nvSpPr>
          <p:cNvPr id="57" name="Text 40"/>
          <p:cNvSpPr txBox="1"/>
          <p:nvPr/>
        </p:nvSpPr>
        <p:spPr>
          <a:xfrm>
            <a:off x="10483596" y="4352544"/>
            <a:ext cx="590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Direct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 </a:t>
            </a:r>
            <a:endParaRPr lang="en-US" sz="1200" dirty="0"/>
          </a:p>
        </p:txBody>
      </p:sp>
      <p:sp>
        <p:nvSpPr>
          <p:cNvPr id="58" name="Text 41"/>
          <p:cNvSpPr txBox="1"/>
          <p:nvPr/>
        </p:nvSpPr>
        <p:spPr>
          <a:xfrm>
            <a:off x="8731606" y="5943600"/>
            <a:ext cx="2981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Vaswani et al., 2017, Section 1 &amp; 4</a:t>
            </a:r>
            <a:endParaRPr lang="en-US" sz="900" dirty="0"/>
          </a:p>
        </p:txBody>
      </p:sp>
      <p:sp>
        <p:nvSpPr>
          <p:cNvPr id="59" name="Shape 42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3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44"/>
          <p:cNvSpPr txBox="1"/>
          <p:nvPr/>
        </p:nvSpPr>
        <p:spPr>
          <a:xfrm>
            <a:off x="381305" y="6510528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62" name="Text 45"/>
          <p:cNvSpPr txBox="1"/>
          <p:nvPr/>
        </p:nvSpPr>
        <p:spPr>
          <a:xfrm>
            <a:off x="11390681" y="6510528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862" y="5862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0" y="0"/>
            <a:ext cx="114300" cy="933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223114"/>
            <a:ext cx="699424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Architecture Overview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85525" y="276149"/>
            <a:ext cx="2286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0" r="-20"/>
          <a:stretch/>
        </p:blipFill>
        <p:spPr>
          <a:xfrm>
            <a:off x="761695" y="1096134"/>
            <a:ext cx="3956304" cy="106111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90295" y="1096134"/>
            <a:ext cx="3676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Encoder-Decoder Stack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990295" y="1532198"/>
            <a:ext cx="3639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N=6 identical layers stacked for deep representation learning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-20" r="-20"/>
          <a:stretch/>
        </p:blipFill>
        <p:spPr>
          <a:xfrm>
            <a:off x="761695" y="2151583"/>
            <a:ext cx="3954780" cy="106070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90295" y="2105739"/>
            <a:ext cx="3676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Multi-Head Attention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990295" y="2564708"/>
            <a:ext cx="3639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Captures global dependencies across the sequence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l="-20" r="-20"/>
          <a:stretch/>
        </p:blipFill>
        <p:spPr>
          <a:xfrm>
            <a:off x="761695" y="3205887"/>
            <a:ext cx="3954780" cy="106070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90295" y="3227481"/>
            <a:ext cx="3676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Position-wise FFN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990295" y="3677751"/>
            <a:ext cx="3639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Independent non-linear transformation at each position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rcRect l="-20" r="-20"/>
          <a:stretch/>
        </p:blipFill>
        <p:spPr>
          <a:xfrm>
            <a:off x="761695" y="4242815"/>
            <a:ext cx="3954780" cy="106070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90295" y="4295886"/>
            <a:ext cx="3676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Residual &amp; Norm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990295" y="4712642"/>
            <a:ext cx="3639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&amp; Norm around each sub-layer for stability</a:t>
            </a:r>
            <a:endParaRPr lang="en-US" sz="13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rcRect l="-20" r="-20"/>
          <a:stretch/>
        </p:blipFill>
        <p:spPr>
          <a:xfrm>
            <a:off x="763219" y="5303519"/>
            <a:ext cx="3954780" cy="106070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71550" y="5120103"/>
            <a:ext cx="3676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Positional Encoding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990295" y="6401714"/>
            <a:ext cx="3639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Injects order information (Sine/Cosine functions)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5097780" y="1333195"/>
            <a:ext cx="6334049" cy="4667098"/>
          </a:xfrm>
          <a:prstGeom prst="roundRect">
            <a:avLst>
              <a:gd name="adj" fmla="val 6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8"/>
          <p:cNvSpPr/>
          <p:nvPr/>
        </p:nvSpPr>
        <p:spPr>
          <a:xfrm>
            <a:off x="6659575" y="1376172"/>
            <a:ext cx="3209544" cy="4286707"/>
          </a:xfrm>
          <a:prstGeom prst="roundRect">
            <a:avLst>
              <a:gd name="adj" fmla="val 3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9"/>
          <p:cNvSpPr txBox="1"/>
          <p:nvPr/>
        </p:nvSpPr>
        <p:spPr>
          <a:xfrm>
            <a:off x="5240426" y="5757977"/>
            <a:ext cx="60487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Figure 1: The Transformer architecture (Vaswani et al., 2017)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1"/>
          <p:cNvSpPr/>
          <p:nvPr/>
        </p:nvSpPr>
        <p:spPr>
          <a:xfrm>
            <a:off x="0" y="6381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2"/>
          <p:cNvSpPr txBox="1"/>
          <p:nvPr/>
        </p:nvSpPr>
        <p:spPr>
          <a:xfrm>
            <a:off x="761695" y="6515100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11009376" y="6515100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  <p:pic>
        <p:nvPicPr>
          <p:cNvPr id="34" name="그림 33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5B6C85-E9E4-4EDE-B72C-4F2F8FD84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576" y="1399033"/>
            <a:ext cx="3154680" cy="4213712"/>
          </a:xfrm>
          <a:prstGeom prst="rect">
            <a:avLst/>
          </a:prstGeom>
        </p:spPr>
      </p:pic>
      <p:sp>
        <p:nvSpPr>
          <p:cNvPr id="36" name="Text 14">
            <a:extLst>
              <a:ext uri="{FF2B5EF4-FFF2-40B4-BE49-F238E27FC236}">
                <a16:creationId xmlns:a16="http://schemas.microsoft.com/office/drawing/2014/main" id="{601CB67F-95C3-CB4B-8112-D942B711E00B}"/>
              </a:ext>
            </a:extLst>
          </p:cNvPr>
          <p:cNvSpPr txBox="1"/>
          <p:nvPr/>
        </p:nvSpPr>
        <p:spPr>
          <a:xfrm>
            <a:off x="971550" y="5566154"/>
            <a:ext cx="3639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Sine/Cosine functions inject position information for relative distance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5862" y="5862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0" y="0"/>
            <a:ext cx="114300" cy="933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223114"/>
            <a:ext cx="1127729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Mechanism: Scaled Dot-Product Attention</a:t>
            </a:r>
            <a:endParaRPr lang="en-US" sz="3200" dirty="0"/>
          </a:p>
        </p:txBody>
      </p:sp>
      <p:sp>
        <p:nvSpPr>
          <p:cNvPr id="8" name="Shape 4"/>
          <p:cNvSpPr/>
          <p:nvPr/>
        </p:nvSpPr>
        <p:spPr>
          <a:xfrm>
            <a:off x="5533949" y="1238098"/>
            <a:ext cx="19202" cy="485820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761695" y="1238098"/>
            <a:ext cx="2153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Concepts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761695" y="1762049"/>
            <a:ext cx="4581144" cy="1561795"/>
          </a:xfrm>
          <a:prstGeom prst="roundRect">
            <a:avLst>
              <a:gd name="adj" fmla="val 42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914754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1914754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1922983"/>
            <a:ext cx="310621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Query:</a:t>
            </a:r>
            <a:r>
              <a:rPr lang="en-US" sz="1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r>
              <a:rPr lang="en-US" sz="13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X</a:t>
            </a: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(찾는 대상)</a:t>
            </a:r>
            <a:endParaRPr lang="en-US" sz="1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71954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2371954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DE6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71600" y="2380183"/>
            <a:ext cx="277703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</a:t>
            </a:r>
            <a:r>
              <a:rPr lang="en-US" sz="1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r>
              <a:rPr lang="en-US" sz="13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X</a:t>
            </a: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(매칭 기준)</a:t>
            </a:r>
            <a:endParaRPr lang="en-US" sz="18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829154"/>
            <a:ext cx="342900" cy="3429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2829154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371600" y="2837383"/>
            <a:ext cx="300380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Value:</a:t>
            </a:r>
            <a:r>
              <a:rPr lang="en-US" sz="1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r>
              <a:rPr lang="en-US" sz="13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800" i="1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X</a:t>
            </a:r>
            <a:r>
              <a:rPr lang="en-US" sz="18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(정보 내용)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514954"/>
            <a:ext cx="285658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Calculation Steps</a:t>
            </a:r>
            <a:endParaRPr lang="en-US" sz="2100" dirty="0"/>
          </a:p>
        </p:txBody>
      </p:sp>
      <p:sp>
        <p:nvSpPr>
          <p:cNvPr id="21" name="Shape 14"/>
          <p:cNvSpPr/>
          <p:nvPr/>
        </p:nvSpPr>
        <p:spPr>
          <a:xfrm>
            <a:off x="761695" y="3986784"/>
            <a:ext cx="4581144" cy="1937614"/>
          </a:xfrm>
          <a:prstGeom prst="roundRect">
            <a:avLst>
              <a:gd name="adj" fmla="val 24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09898"/>
            <a:ext cx="247802" cy="24780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4209898"/>
            <a:ext cx="247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1276502" y="4190695"/>
            <a:ext cx="328726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Similarity:</a:t>
            </a:r>
            <a:r>
              <a:rPr lang="en-US" sz="1500" i="1" dirty="0">
                <a:solidFill>
                  <a:srgbClr val="37415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 · K</a:t>
            </a:r>
            <a:r>
              <a:rPr lang="en-US" sz="1200" i="1" dirty="0">
                <a:solidFill>
                  <a:srgbClr val="37415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연산 (유사도)</a:t>
            </a:r>
            <a:endParaRPr lang="en-US" sz="15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616806"/>
            <a:ext cx="247802" cy="24780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14400" y="4616806"/>
            <a:ext cx="247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1276502" y="4597603"/>
            <a:ext cx="364205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Scaling:</a:t>
            </a:r>
            <a:r>
              <a:rPr lang="en-US" sz="1500" i="1" dirty="0">
                <a:solidFill>
                  <a:srgbClr val="37415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√d</a:t>
            </a:r>
            <a:r>
              <a:rPr lang="en-US" sz="1200" i="1" dirty="0">
                <a:solidFill>
                  <a:srgbClr val="37415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나눗셈 (기울기 안정화)</a:t>
            </a:r>
            <a:endParaRPr lang="en-US" sz="15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023714"/>
            <a:ext cx="247802" cy="24780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14400" y="5023714"/>
            <a:ext cx="247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1276502" y="5004511"/>
            <a:ext cx="35286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Softmax: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점수를 확률 분포로 변환</a:t>
            </a:r>
            <a:endParaRPr lang="en-US" sz="15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405018"/>
            <a:ext cx="247802" cy="24780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02512" y="5414466"/>
            <a:ext cx="247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1276502" y="5385816"/>
            <a:ext cx="31290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Output: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확률 가중치로 V 합산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5933542" y="1238098"/>
            <a:ext cx="357896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Mathematical Formula</a:t>
            </a:r>
            <a:endParaRPr lang="en-US" sz="21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rcRect t="-7" b="-7"/>
          <a:stretch/>
        </p:blipFill>
        <p:spPr>
          <a:xfrm>
            <a:off x="5933542" y="1762049"/>
            <a:ext cx="5496458" cy="129936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217006" y="2182673"/>
            <a:ext cx="3003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Attention(Q, K, V) =</a:t>
            </a:r>
            <a:endParaRPr lang="en-US" sz="2400" dirty="0"/>
          </a:p>
        </p:txBody>
      </p:sp>
      <p:sp>
        <p:nvSpPr>
          <p:cNvPr id="37" name="Text 25"/>
          <p:cNvSpPr txBox="1"/>
          <p:nvPr/>
        </p:nvSpPr>
        <p:spPr>
          <a:xfrm>
            <a:off x="8942832" y="2221078"/>
            <a:ext cx="1143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endParaRPr lang="en-US" sz="2000" dirty="0"/>
          </a:p>
        </p:txBody>
      </p:sp>
      <p:sp>
        <p:nvSpPr>
          <p:cNvPr id="38" name="Shape 26"/>
          <p:cNvSpPr/>
          <p:nvPr/>
        </p:nvSpPr>
        <p:spPr>
          <a:xfrm>
            <a:off x="10171786" y="2447849"/>
            <a:ext cx="629107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7"/>
          <p:cNvSpPr txBox="1"/>
          <p:nvPr/>
        </p:nvSpPr>
        <p:spPr>
          <a:xfrm>
            <a:off x="10171786" y="1952244"/>
            <a:ext cx="748894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 K</a:t>
            </a:r>
            <a:r>
              <a:rPr lang="en-US" sz="1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2400" dirty="0"/>
          </a:p>
        </p:txBody>
      </p:sp>
      <p:sp>
        <p:nvSpPr>
          <p:cNvPr id="40" name="Text 28"/>
          <p:cNvSpPr txBox="1"/>
          <p:nvPr/>
        </p:nvSpPr>
        <p:spPr>
          <a:xfrm>
            <a:off x="10316261" y="2504542"/>
            <a:ext cx="419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√d</a:t>
            </a:r>
            <a:r>
              <a:rPr lang="en-US" sz="14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900" dirty="0"/>
          </a:p>
        </p:txBody>
      </p:sp>
      <p:sp>
        <p:nvSpPr>
          <p:cNvPr id="41" name="Text 29"/>
          <p:cNvSpPr txBox="1"/>
          <p:nvPr/>
        </p:nvSpPr>
        <p:spPr>
          <a:xfrm>
            <a:off x="10959998" y="2182673"/>
            <a:ext cx="267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2400" dirty="0"/>
          </a:p>
        </p:txBody>
      </p:sp>
      <p:sp>
        <p:nvSpPr>
          <p:cNvPr id="42" name="Shape 30"/>
          <p:cNvSpPr/>
          <p:nvPr/>
        </p:nvSpPr>
        <p:spPr>
          <a:xfrm>
            <a:off x="5933542" y="3251606"/>
            <a:ext cx="5505602" cy="2829154"/>
          </a:xfrm>
          <a:prstGeom prst="roundRect">
            <a:avLst>
              <a:gd name="adj" fmla="val 130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/>
          <p:cNvSpPr txBox="1"/>
          <p:nvPr/>
        </p:nvSpPr>
        <p:spPr>
          <a:xfrm>
            <a:off x="6085332" y="335676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Calculation Flow</a:t>
            </a:r>
            <a:endParaRPr lang="en-US" sz="12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2574" y="3546958"/>
            <a:ext cx="428854" cy="495605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332574" y="3546958"/>
            <a:ext cx="428854" cy="4956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500" dirty="0"/>
          </a:p>
        </p:txBody>
      </p:sp>
      <p:sp>
        <p:nvSpPr>
          <p:cNvPr id="46" name="Text 33"/>
          <p:cNvSpPr txBox="1"/>
          <p:nvPr/>
        </p:nvSpPr>
        <p:spPr>
          <a:xfrm>
            <a:off x="7851038" y="3642055"/>
            <a:ext cx="286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5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9133" y="3546958"/>
            <a:ext cx="504749" cy="495605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149133" y="3546958"/>
            <a:ext cx="505663" cy="4956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 T</a:t>
            </a:r>
            <a:endParaRPr lang="en-US" sz="1500" dirty="0"/>
          </a:p>
        </p:txBody>
      </p:sp>
      <p:sp>
        <p:nvSpPr>
          <p:cNvPr id="49" name="Text 35"/>
          <p:cNvSpPr txBox="1"/>
          <p:nvPr/>
        </p:nvSpPr>
        <p:spPr>
          <a:xfrm>
            <a:off x="8746236" y="3642055"/>
            <a:ext cx="267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➜</a:t>
            </a:r>
            <a:endParaRPr lang="en-US" sz="150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3546958"/>
            <a:ext cx="1009498" cy="495605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9029700" y="3546958"/>
            <a:ext cx="1010412" cy="4956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Scores</a:t>
            </a:r>
            <a:endParaRPr lang="en-US" sz="1500" dirty="0"/>
          </a:p>
        </p:txBody>
      </p:sp>
      <p:sp>
        <p:nvSpPr>
          <p:cNvPr id="52" name="Shape 37"/>
          <p:cNvSpPr/>
          <p:nvPr/>
        </p:nvSpPr>
        <p:spPr>
          <a:xfrm>
            <a:off x="7851953" y="4185209"/>
            <a:ext cx="1666951" cy="1104595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38"/>
          <p:cNvSpPr/>
          <p:nvPr/>
        </p:nvSpPr>
        <p:spPr>
          <a:xfrm>
            <a:off x="7975397" y="4308653"/>
            <a:ext cx="371246" cy="857707"/>
          </a:xfrm>
          <a:prstGeom prst="roundRect">
            <a:avLst>
              <a:gd name="adj" fmla="val 2526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9"/>
          <p:cNvSpPr txBox="1"/>
          <p:nvPr/>
        </p:nvSpPr>
        <p:spPr>
          <a:xfrm>
            <a:off x="8022946" y="4356202"/>
            <a:ext cx="352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200" dirty="0"/>
          </a:p>
        </p:txBody>
      </p:sp>
      <p:sp>
        <p:nvSpPr>
          <p:cNvPr id="55" name="Text 40"/>
          <p:cNvSpPr txBox="1"/>
          <p:nvPr/>
        </p:nvSpPr>
        <p:spPr>
          <a:xfrm>
            <a:off x="8022946" y="4623206"/>
            <a:ext cx="352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200" dirty="0"/>
          </a:p>
        </p:txBody>
      </p:sp>
      <p:sp>
        <p:nvSpPr>
          <p:cNvPr id="56" name="Text 41"/>
          <p:cNvSpPr txBox="1"/>
          <p:nvPr/>
        </p:nvSpPr>
        <p:spPr>
          <a:xfrm>
            <a:off x="8022946" y="4890211"/>
            <a:ext cx="352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200" dirty="0"/>
          </a:p>
        </p:txBody>
      </p:sp>
      <p:sp>
        <p:nvSpPr>
          <p:cNvPr id="57" name="Text 42"/>
          <p:cNvSpPr txBox="1"/>
          <p:nvPr/>
        </p:nvSpPr>
        <p:spPr>
          <a:xfrm>
            <a:off x="8459114" y="4518965"/>
            <a:ext cx="5239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Softmax</a:t>
            </a:r>
            <a:endParaRPr lang="en-US" sz="900" dirty="0"/>
          </a:p>
        </p:txBody>
      </p:sp>
      <p:sp>
        <p:nvSpPr>
          <p:cNvPr id="58" name="Text 43"/>
          <p:cNvSpPr txBox="1"/>
          <p:nvPr/>
        </p:nvSpPr>
        <p:spPr>
          <a:xfrm>
            <a:off x="8599018" y="4689958"/>
            <a:ext cx="247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➜</a:t>
            </a:r>
            <a:endParaRPr lang="en-US" sz="1400" dirty="0"/>
          </a:p>
        </p:txBody>
      </p:sp>
      <p:sp>
        <p:nvSpPr>
          <p:cNvPr id="59" name="Shape 44"/>
          <p:cNvSpPr/>
          <p:nvPr/>
        </p:nvSpPr>
        <p:spPr>
          <a:xfrm>
            <a:off x="9017813" y="4308653"/>
            <a:ext cx="371246" cy="857707"/>
          </a:xfrm>
          <a:prstGeom prst="roundRect">
            <a:avLst>
              <a:gd name="adj" fmla="val 2526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5"/>
          <p:cNvSpPr txBox="1"/>
          <p:nvPr/>
        </p:nvSpPr>
        <p:spPr>
          <a:xfrm>
            <a:off x="9065362" y="4356202"/>
            <a:ext cx="352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200" dirty="0"/>
          </a:p>
        </p:txBody>
      </p:sp>
      <p:sp>
        <p:nvSpPr>
          <p:cNvPr id="61" name="Text 46"/>
          <p:cNvSpPr txBox="1"/>
          <p:nvPr/>
        </p:nvSpPr>
        <p:spPr>
          <a:xfrm>
            <a:off x="9065362" y="4623206"/>
            <a:ext cx="352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200" dirty="0"/>
          </a:p>
        </p:txBody>
      </p:sp>
      <p:sp>
        <p:nvSpPr>
          <p:cNvPr id="62" name="Text 47"/>
          <p:cNvSpPr txBox="1"/>
          <p:nvPr/>
        </p:nvSpPr>
        <p:spPr>
          <a:xfrm>
            <a:off x="9065362" y="4890211"/>
            <a:ext cx="352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200" dirty="0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1289" y="5433365"/>
            <a:ext cx="1067105" cy="495605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7111289" y="5433365"/>
            <a:ext cx="1067105" cy="4956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5966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Weights</a:t>
            </a:r>
            <a:endParaRPr lang="en-US" sz="1500" dirty="0"/>
          </a:p>
        </p:txBody>
      </p:sp>
      <p:sp>
        <p:nvSpPr>
          <p:cNvPr id="65" name="Text 49"/>
          <p:cNvSpPr txBox="1"/>
          <p:nvPr/>
        </p:nvSpPr>
        <p:spPr>
          <a:xfrm>
            <a:off x="8273491" y="5528462"/>
            <a:ext cx="286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500" dirty="0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1586" y="5433365"/>
            <a:ext cx="400507" cy="495605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8571586" y="5433365"/>
            <a:ext cx="400507" cy="4956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</a:t>
            </a:r>
            <a:endParaRPr lang="en-US" sz="1500" dirty="0"/>
          </a:p>
        </p:txBody>
      </p:sp>
      <p:sp>
        <p:nvSpPr>
          <p:cNvPr id="68" name="Text 51"/>
          <p:cNvSpPr txBox="1"/>
          <p:nvPr/>
        </p:nvSpPr>
        <p:spPr>
          <a:xfrm>
            <a:off x="9059875" y="5528462"/>
            <a:ext cx="191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150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67444" y="5433365"/>
            <a:ext cx="990295" cy="495605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9267444" y="5433365"/>
            <a:ext cx="991210" cy="495605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500" dirty="0"/>
          </a:p>
        </p:txBody>
      </p:sp>
      <p:sp>
        <p:nvSpPr>
          <p:cNvPr id="71" name="Shape 5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54"/>
          <p:cNvSpPr/>
          <p:nvPr/>
        </p:nvSpPr>
        <p:spPr>
          <a:xfrm>
            <a:off x="0" y="6381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55"/>
          <p:cNvSpPr txBox="1"/>
          <p:nvPr/>
        </p:nvSpPr>
        <p:spPr>
          <a:xfrm>
            <a:off x="381305" y="6515100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74" name="Text 56"/>
          <p:cNvSpPr txBox="1"/>
          <p:nvPr/>
        </p:nvSpPr>
        <p:spPr>
          <a:xfrm>
            <a:off x="11390681" y="6515100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0" y="0"/>
            <a:ext cx="114300" cy="933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223114"/>
            <a:ext cx="523036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Multi-Head Attention</a:t>
            </a:r>
            <a:endParaRPr lang="en-US" sz="3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761695" y="1416406"/>
            <a:ext cx="3954780" cy="124541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09498" y="1559966"/>
            <a:ext cx="3715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009498" y="1950415"/>
            <a:ext cx="36009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Attention의 편향 위험을 완화하고,      </a:t>
            </a:r>
            <a:r>
              <a:rPr lang="en-US" sz="1500" dirty="0" err="1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</a:t>
            </a:r>
            <a:r>
              <a:rPr lang="en-US" sz="15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관점의 정보를 병렬로 학습합니다.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761695" y="3043123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 txBox="1"/>
          <p:nvPr/>
        </p:nvSpPr>
        <p:spPr>
          <a:xfrm>
            <a:off x="952805" y="2947111"/>
            <a:ext cx="39630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관점 병렬 학습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915314" y="3263494"/>
            <a:ext cx="347497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H=8개의 Head가 서로 다른 </a:t>
            </a:r>
            <a:r>
              <a:rPr lang="en-US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문맥적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특징을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동시에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포착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61695" y="4080053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952805" y="3984955"/>
            <a:ext cx="39630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차원 분할과 효율성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52805" y="4301338"/>
            <a:ext cx="343748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d_model(512)를 </a:t>
            </a:r>
            <a:r>
              <a:rPr lang="ko-KR" alt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　　　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분할하여 각 Head는  차원에서 연산 </a:t>
            </a:r>
            <a:endParaRPr lang="en-US" sz="15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0145" y="4300095"/>
            <a:ext cx="428854" cy="25694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70708" y="4306658"/>
            <a:ext cx="4288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h=8</a:t>
            </a:r>
            <a:endParaRPr lang="en-US" sz="1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8237" y="4542868"/>
            <a:ext cx="761695" cy="25694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355950" y="4551362"/>
            <a:ext cx="76261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d_k=64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761695" y="5127955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6"/>
          <p:cNvSpPr txBox="1"/>
          <p:nvPr/>
        </p:nvSpPr>
        <p:spPr>
          <a:xfrm>
            <a:off x="952805" y="5032858"/>
            <a:ext cx="3886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 Effect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952805" y="5348326"/>
            <a:ext cx="33851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Head의 출력을 </a:t>
            </a:r>
            <a:r>
              <a:rPr lang="en-US" sz="15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Concat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 </a:t>
            </a:r>
            <a:r>
              <a:rPr lang="en-US" sz="15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Linear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통합하여 정보 결합 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5097780" y="1238098"/>
            <a:ext cx="6334049" cy="4858207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6806794" y="1462126"/>
            <a:ext cx="2915107" cy="4000500"/>
          </a:xfrm>
          <a:prstGeom prst="roundRect">
            <a:avLst>
              <a:gd name="adj" fmla="val 4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0"/>
          <p:cNvSpPr/>
          <p:nvPr/>
        </p:nvSpPr>
        <p:spPr>
          <a:xfrm>
            <a:off x="5594299" y="5576926"/>
            <a:ext cx="5343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 txBox="1"/>
          <p:nvPr/>
        </p:nvSpPr>
        <p:spPr>
          <a:xfrm>
            <a:off x="5555894" y="5661965"/>
            <a:ext cx="5420563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Figure 2: Multi-Head Attention (Vaswani et al., 2017)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0" y="6381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4"/>
          <p:cNvSpPr txBox="1"/>
          <p:nvPr/>
        </p:nvSpPr>
        <p:spPr>
          <a:xfrm>
            <a:off x="381305" y="6515100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11390681" y="6515100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  <p:pic>
        <p:nvPicPr>
          <p:cNvPr id="35" name="그림 34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7D80E5-69CA-A29C-5F06-1D61600922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7325" y="1530541"/>
            <a:ext cx="2724530" cy="38105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0" y="0"/>
            <a:ext cx="114300" cy="933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223114"/>
            <a:ext cx="724570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Encoder-Decoder Architecture</a:t>
            </a:r>
            <a:endParaRPr lang="en-US" sz="3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14" r="-14"/>
          <a:stretch/>
        </p:blipFill>
        <p:spPr>
          <a:xfrm>
            <a:off x="761695" y="1385316"/>
            <a:ext cx="4114800" cy="117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90295" y="1499616"/>
            <a:ext cx="38295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Stacks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990295" y="1865376"/>
            <a:ext cx="3829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Encoder: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6 identical layers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990295" y="2187245"/>
            <a:ext cx="3829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Decoder: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6 identical layers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7" b="-7"/>
          <a:stretch/>
        </p:blipFill>
        <p:spPr>
          <a:xfrm>
            <a:off x="761695" y="2756002"/>
            <a:ext cx="4114800" cy="150144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90295" y="2870302"/>
            <a:ext cx="38295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Flow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990295" y="3236062"/>
            <a:ext cx="3829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K, V: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From Encoder output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90295" y="3557016"/>
            <a:ext cx="3829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Q: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From Decoder previous layer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990295" y="3878885"/>
            <a:ext cx="41376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Allows decoder to attend to input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761695" y="4447642"/>
            <a:ext cx="4114800" cy="150144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90295" y="4561942"/>
            <a:ext cx="38295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Components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990295" y="4927702"/>
            <a:ext cx="41376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Residual Connections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(Add &amp; Norm)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990295" y="5248656"/>
            <a:ext cx="3829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Position-wise FFN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990295" y="5570525"/>
            <a:ext cx="38295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Auto-regressive property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257800" y="1143000"/>
            <a:ext cx="6172200" cy="50484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t="85" b="85"/>
          <a:stretch/>
        </p:blipFill>
        <p:spPr>
          <a:xfrm>
            <a:off x="6917436" y="1571854"/>
            <a:ext cx="2857500" cy="3810305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4766" y="5477256"/>
            <a:ext cx="5343754" cy="28620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74766" y="5477256"/>
            <a:ext cx="5343754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 1: The Transformer architecture (Vaswani et al., 2017)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8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9"/>
          <p:cNvSpPr txBox="1"/>
          <p:nvPr/>
        </p:nvSpPr>
        <p:spPr>
          <a:xfrm>
            <a:off x="761695" y="6510528"/>
            <a:ext cx="2097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11009376" y="6510528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0" y="0"/>
            <a:ext cx="114300" cy="933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223114"/>
            <a:ext cx="497799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Positional Encoding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761694" y="1158567"/>
            <a:ext cx="5058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Positional Encoding?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40664" y="1714452"/>
            <a:ext cx="50200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Recurrence/Convolution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정보 부재로 위치 정보 주입 필수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8894" y="2500931"/>
            <a:ext cx="50200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to Embeddings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Embedding + Positional Encoding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61695" y="3490265"/>
            <a:ext cx="4943246" cy="895198"/>
          </a:xfrm>
          <a:prstGeom prst="roundRect">
            <a:avLst>
              <a:gd name="adj" fmla="val 434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761695" y="3490265"/>
            <a:ext cx="47549" cy="895198"/>
          </a:xfrm>
          <a:prstGeom prst="roundRect">
            <a:avLst>
              <a:gd name="adj" fmla="val 8183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866851" y="3642055"/>
            <a:ext cx="4782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</a:t>
            </a:r>
            <a:r>
              <a:rPr lang="en-US" sz="1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(pos, 2i)</a:t>
            </a:r>
            <a:r>
              <a:rPr lang="en-US" sz="16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sin(pos / 10000</a:t>
            </a:r>
            <a:r>
              <a:rPr lang="en-US" sz="1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2i/d</a:t>
            </a:r>
            <a:r>
              <a:rPr lang="en-US" sz="16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8894" y="3952951"/>
            <a:ext cx="501822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</a:t>
            </a:r>
            <a:r>
              <a:rPr lang="en-US" sz="1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(pos, 2i+1)</a:t>
            </a:r>
            <a:r>
              <a:rPr lang="en-US" sz="16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cos(pos / 10000</a:t>
            </a:r>
            <a:r>
              <a:rPr lang="en-US" sz="1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2i/d</a:t>
            </a:r>
            <a:r>
              <a:rPr lang="en-US" sz="16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4663440"/>
            <a:ext cx="5058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Sinusoidal?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5032858"/>
            <a:ext cx="502005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Relative Position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선형 변환으로 표현 가능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5642762"/>
            <a:ext cx="502005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Extrapolation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학습보다 긴 시퀀스 처리 가능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086246" y="1571854"/>
            <a:ext cx="5343754" cy="4190695"/>
          </a:xfrm>
          <a:prstGeom prst="roundRect">
            <a:avLst>
              <a:gd name="adj" fmla="val 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199986" y="1772107"/>
            <a:ext cx="311719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Sinusoidal Wave Patterns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2" b="-2"/>
          <a:stretch/>
        </p:blipFill>
        <p:spPr>
          <a:xfrm>
            <a:off x="6286500" y="2180844"/>
            <a:ext cx="4943246" cy="22860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86500" y="4610405"/>
            <a:ext cx="4943246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6391656" y="4695444"/>
            <a:ext cx="47347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= Embedding + PE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945782" y="5143500"/>
            <a:ext cx="3626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차원(Dimension)마다 고유한 파장 주기 가짐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499702" y="5458054"/>
            <a:ext cx="20638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Vaswani et al., 2017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0" y="6381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761695" y="6515100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1009376" y="6515100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61695" y="226771"/>
            <a:ext cx="564733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Configuration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61695" y="1024128"/>
            <a:ext cx="4362602" cy="2447849"/>
          </a:xfrm>
          <a:prstGeom prst="roundRect">
            <a:avLst>
              <a:gd name="adj" fmla="val 1744"/>
            </a:avLst>
          </a:prstGeom>
          <a:solidFill>
            <a:srgbClr val="F8FAFC"/>
          </a:solidFill>
          <a:ln/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024128"/>
            <a:ext cx="75895" cy="2447849"/>
          </a:xfrm>
          <a:prstGeom prst="roundRect">
            <a:avLst>
              <a:gd name="adj" fmla="val 5625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67105" y="1252728"/>
            <a:ext cx="3943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Optimizer &amp; Reg.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295705" y="1871777"/>
            <a:ext cx="3715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Adam:</a:t>
            </a:r>
            <a:endParaRPr lang="en-US" sz="1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346" y="1910182"/>
            <a:ext cx="1886407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79346" y="1910182"/>
            <a:ext cx="18864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β₁=0.9, ε=10⁻⁹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295705" y="2328977"/>
            <a:ext cx="3715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Dropout: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(Base)</a:t>
            </a:r>
            <a:endParaRPr lang="en-US" sz="1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8413" y="2367382"/>
            <a:ext cx="847649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88413" y="2367382"/>
            <a:ext cx="848563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P=0.1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295705" y="2786177"/>
            <a:ext cx="3715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Label Smoothing:</a:t>
            </a:r>
            <a:endParaRPr lang="en-US" sz="1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824582"/>
            <a:ext cx="847649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56432" y="2824582"/>
            <a:ext cx="848563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ε=0.1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61695" y="3757270"/>
            <a:ext cx="4362602" cy="2553005"/>
          </a:xfrm>
          <a:prstGeom prst="roundRect">
            <a:avLst>
              <a:gd name="adj" fmla="val 1604"/>
            </a:avLst>
          </a:prstGeom>
          <a:solidFill>
            <a:srgbClr val="F8FAFC"/>
          </a:solidFill>
          <a:ln/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761695" y="3757270"/>
            <a:ext cx="75895" cy="2553005"/>
          </a:xfrm>
          <a:prstGeom prst="roundRect">
            <a:avLst>
              <a:gd name="adj" fmla="val 5394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1067105" y="3985870"/>
            <a:ext cx="3943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Resources</a:t>
            </a:r>
            <a:endParaRPr lang="en-US" sz="2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05" y="4604918"/>
            <a:ext cx="2619756" cy="4187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67105" y="4604918"/>
            <a:ext cx="2619756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8x NVIDIA P100 GPUs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1295705" y="5186477"/>
            <a:ext cx="37152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Base: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12hr (100K steps)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1295705" y="5633618"/>
            <a:ext cx="397764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Big: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3.5 days (300K steps)</a:t>
            </a:r>
            <a:endParaRPr lang="en-US" sz="1900" dirty="0"/>
          </a:p>
        </p:txBody>
      </p:sp>
      <p:sp>
        <p:nvSpPr>
          <p:cNvPr id="26" name="Shape 19"/>
          <p:cNvSpPr/>
          <p:nvPr/>
        </p:nvSpPr>
        <p:spPr>
          <a:xfrm>
            <a:off x="5593385" y="1333195"/>
            <a:ext cx="5838444" cy="4667098"/>
          </a:xfrm>
          <a:prstGeom prst="roundRect">
            <a:avLst>
              <a:gd name="adj" fmla="val 64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 txBox="1"/>
          <p:nvPr/>
        </p:nvSpPr>
        <p:spPr>
          <a:xfrm>
            <a:off x="5841187" y="1638605"/>
            <a:ext cx="534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Rate Schedule</a:t>
            </a:r>
            <a:endParaRPr lang="en-US" sz="2400" dirty="0"/>
          </a:p>
        </p:txBody>
      </p:sp>
      <p:sp>
        <p:nvSpPr>
          <p:cNvPr id="28" name="Shape 21"/>
          <p:cNvSpPr/>
          <p:nvPr/>
        </p:nvSpPr>
        <p:spPr>
          <a:xfrm>
            <a:off x="7372807" y="2348179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7658100" y="2286000"/>
            <a:ext cx="914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Warmup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773668" y="2348179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9059875" y="2286000"/>
            <a:ext cx="6766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Decay</a:t>
            </a:r>
            <a:endParaRPr lang="en-US" sz="16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rcRect l="-100" r="-100"/>
          <a:stretch/>
        </p:blipFill>
        <p:spPr>
          <a:xfrm>
            <a:off x="5898794" y="2790749"/>
            <a:ext cx="5229454" cy="24761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841187" y="5410505"/>
            <a:ext cx="53437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warmup_steps = 4000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0" y="6381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 txBox="1"/>
          <p:nvPr/>
        </p:nvSpPr>
        <p:spPr>
          <a:xfrm>
            <a:off x="761695" y="6515100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11009376" y="6515100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61695" y="223114"/>
            <a:ext cx="523036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Experimental Results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61695" y="1866290"/>
            <a:ext cx="51435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1333195"/>
            <a:ext cx="52578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Translation Performance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076602"/>
          <a:ext cx="5143500" cy="199156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Model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BLEU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3333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Training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555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Prev SOTA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555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25.16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555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555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Base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555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27.3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555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12h (8GPU)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E86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Big ★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E86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28.4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E86D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3.5d (8GPU)</a:t>
                      </a:r>
                      <a:endParaRPr lang="en-US" sz="1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5098" marR="95098" marT="75895" marB="75895" anchor="ctr">
                    <a:lnL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61695" y="4257446"/>
            <a:ext cx="5257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BLEU +3.2 improvement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61695" y="4727448"/>
            <a:ext cx="5257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1/4 ~ 1/10 of others</a:t>
            </a:r>
            <a:endParaRPr lang="en-US" sz="2000" dirty="0"/>
          </a:p>
        </p:txBody>
      </p:sp>
      <p:sp>
        <p:nvSpPr>
          <p:cNvPr id="9" name="Text 8"/>
          <p:cNvSpPr txBox="1"/>
          <p:nvPr/>
        </p:nvSpPr>
        <p:spPr>
          <a:xfrm>
            <a:off x="761695" y="5197450"/>
            <a:ext cx="5257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EN-FR: 41.8 BLEU (SOTA)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86500" y="1866290"/>
            <a:ext cx="51435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6286500" y="1333195"/>
            <a:ext cx="52578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Ablation Study Findings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6286500" y="2076602"/>
            <a:ext cx="5143500" cy="1324051"/>
          </a:xfrm>
          <a:prstGeom prst="roundRect">
            <a:avLst>
              <a:gd name="adj" fmla="val 39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6439205" y="2229307"/>
            <a:ext cx="4953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Heads (h)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439205" y="2648102"/>
            <a:ext cx="49249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h=8 optimal.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h=1 (-0.9 BLEU) or h=16 degrades results. 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86500" y="3537814"/>
            <a:ext cx="5143500" cy="1324051"/>
          </a:xfrm>
          <a:prstGeom prst="roundRect">
            <a:avLst>
              <a:gd name="adj" fmla="val 39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6439205" y="3689604"/>
            <a:ext cx="4953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Positional Encoding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6439205" y="4109314"/>
            <a:ext cx="49249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Essential component. Removing it causes significant failure.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286500" y="4999025"/>
            <a:ext cx="5143500" cy="1028700"/>
          </a:xfrm>
          <a:prstGeom prst="roundRect">
            <a:avLst>
              <a:gd name="adj" fmla="val 658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439205" y="5150815"/>
            <a:ext cx="4953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Dropout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6439205" y="5570525"/>
            <a:ext cx="505206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for preventing overfitting.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172200" y="6019495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Vaswani et al., 2017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761695" y="6510528"/>
            <a:ext cx="2097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1009376" y="6510528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61695" y="226771"/>
            <a:ext cx="713597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Analysis: Strengths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61695" y="1333195"/>
            <a:ext cx="5181905" cy="1971446"/>
          </a:xfrm>
          <a:prstGeom prst="roundRect">
            <a:avLst>
              <a:gd name="adj" fmla="val 179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333195"/>
            <a:ext cx="57607" cy="1971446"/>
          </a:xfrm>
          <a:prstGeom prst="roundRect">
            <a:avLst>
              <a:gd name="adj" fmla="val 61345"/>
            </a:avLst>
          </a:prstGeom>
          <a:solidFill>
            <a:srgbClr val="2E86DE"/>
          </a:solidFill>
          <a:ln w="12700">
            <a:solidFill>
              <a:srgbClr val="2E86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09498" y="1476756"/>
            <a:ext cx="48582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완전한 병렬 처리 (Parallelization)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09498" y="2467051"/>
            <a:ext cx="4858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RNN: O(n) 순차 처리 병목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009498" y="2813609"/>
            <a:ext cx="4858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Transformer: </a:t>
            </a:r>
            <a:r>
              <a:rPr lang="en-US" sz="1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O(1)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동시 처리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61695" y="3303727"/>
            <a:ext cx="5181905" cy="1514246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61695" y="3303727"/>
            <a:ext cx="57607" cy="1514246"/>
          </a:xfrm>
          <a:prstGeom prst="roundRect">
            <a:avLst>
              <a:gd name="adj" fmla="val 79865"/>
            </a:avLst>
          </a:prstGeom>
          <a:solidFill>
            <a:srgbClr val="2E86DE"/>
          </a:solidFill>
          <a:ln w="12700">
            <a:solidFill>
              <a:srgbClr val="2E86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009498" y="3446374"/>
            <a:ext cx="5429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장기 의존성 해결 (Long-range)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009498" y="3979469"/>
            <a:ext cx="4858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RNN: 경로 길이 O(n) (손실)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009498" y="4326026"/>
            <a:ext cx="4858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Transformer: </a:t>
            </a:r>
            <a:r>
              <a:rPr lang="en-US" sz="1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O(1)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직접 연결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61695" y="4816145"/>
            <a:ext cx="5181905" cy="1514246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61695" y="4816145"/>
            <a:ext cx="57607" cy="1514246"/>
          </a:xfrm>
          <a:prstGeom prst="roundRect">
            <a:avLst>
              <a:gd name="adj" fmla="val 79865"/>
            </a:avLst>
          </a:prstGeom>
          <a:solidFill>
            <a:srgbClr val="2E86DE"/>
          </a:solidFill>
          <a:ln w="12700">
            <a:solidFill>
              <a:srgbClr val="2E86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009498" y="4958791"/>
            <a:ext cx="5429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86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범용성과 확장성 (Universality)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009498" y="5492801"/>
            <a:ext cx="4858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NLP: 번역, 요약, QA, 코드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009498" y="5839358"/>
            <a:ext cx="4858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r>
              <a:rPr lang="en-US" sz="1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Vision: ViT, CLIP 등 기반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6322162" y="1333195"/>
            <a:ext cx="5115154" cy="4667098"/>
          </a:xfrm>
          <a:prstGeom prst="roundRect">
            <a:avLst>
              <a:gd name="adj" fmla="val 4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95" r="-95"/>
          <a:stretch/>
        </p:blipFill>
        <p:spPr>
          <a:xfrm>
            <a:off x="6521501" y="1533449"/>
            <a:ext cx="4714646" cy="426750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975750" y="5695798"/>
            <a:ext cx="2686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Vaswani et al., 2017, Table 1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761695" y="6510528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1009376" y="6510528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61695" y="228600"/>
            <a:ext cx="387614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 &amp; Future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61695" y="1638605"/>
            <a:ext cx="5143500" cy="283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1695" y="1190549"/>
            <a:ext cx="52578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 &amp; Solutions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761695" y="1851660"/>
            <a:ext cx="5143500" cy="122895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42746" y="1946758"/>
            <a:ext cx="49441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Quadratic Complexity O(n²)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42746" y="2249424"/>
            <a:ext cx="49057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시퀀스 길이에 따라 연산/메모리 제곱 증가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GPT-3 Context 2048 토큰 제한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746" y="2718511"/>
            <a:ext cx="2848356" cy="2670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2746" y="2718511"/>
            <a:ext cx="28483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Solution: Efficient Attention (Linear)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6" b="-16"/>
          <a:stretch/>
        </p:blipFill>
        <p:spPr>
          <a:xfrm>
            <a:off x="761695" y="3194914"/>
            <a:ext cx="5143500" cy="102321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42746" y="3290011"/>
            <a:ext cx="49441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Simple Positional Encoding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942746" y="3592678"/>
            <a:ext cx="49441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고정된 Sin/Cos 방식의 표현 한계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46" y="3855110"/>
            <a:ext cx="2838298" cy="2670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2746" y="3855110"/>
            <a:ext cx="28392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Solution: Advanced PE (RoPE, ALiBi)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 t="-16" b="-16"/>
          <a:stretch/>
        </p:blipFill>
        <p:spPr>
          <a:xfrm>
            <a:off x="761695" y="4331513"/>
            <a:ext cx="5143500" cy="102321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42746" y="4426610"/>
            <a:ext cx="49441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Resource Usage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942746" y="4730191"/>
            <a:ext cx="49441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대규모 학습 비용 (BERT Base: 16 TPU × 4일)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746" y="4992624"/>
            <a:ext cx="2734056" cy="26700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42746" y="4992624"/>
            <a:ext cx="27340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Solution: Distillation, Quantization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6286500" y="1638605"/>
            <a:ext cx="5143500" cy="283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6"/>
          <p:cNvSpPr txBox="1"/>
          <p:nvPr/>
        </p:nvSpPr>
        <p:spPr>
          <a:xfrm>
            <a:off x="6286500" y="1190549"/>
            <a:ext cx="525780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Modern Impact</a:t>
            </a:r>
            <a:endParaRPr lang="en-US" sz="1900" dirty="0"/>
          </a:p>
        </p:txBody>
      </p:sp>
      <p:sp>
        <p:nvSpPr>
          <p:cNvPr id="26" name="Shape 17"/>
          <p:cNvSpPr/>
          <p:nvPr/>
        </p:nvSpPr>
        <p:spPr>
          <a:xfrm>
            <a:off x="6286500" y="1851660"/>
            <a:ext cx="38405" cy="7050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8"/>
          <p:cNvSpPr txBox="1"/>
          <p:nvPr/>
        </p:nvSpPr>
        <p:spPr>
          <a:xfrm>
            <a:off x="6439205" y="1851660"/>
            <a:ext cx="51060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Language Understanding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6439205" y="2145182"/>
            <a:ext cx="50676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BERT, RoBERTa (Encoder 기반)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양방향 문맥 이해, 검색/QA 혁신 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286500" y="2670962"/>
            <a:ext cx="38405" cy="7050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1"/>
          <p:cNvSpPr txBox="1"/>
          <p:nvPr/>
        </p:nvSpPr>
        <p:spPr>
          <a:xfrm>
            <a:off x="6439205" y="2670962"/>
            <a:ext cx="51060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6439205" y="2964485"/>
            <a:ext cx="50676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GPT-4, ChatGPT (Decoder-only)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Auto-regressive 생성, 인간 수준 텍스트 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286500" y="3489350"/>
            <a:ext cx="38405" cy="7050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 txBox="1"/>
          <p:nvPr/>
        </p:nvSpPr>
        <p:spPr>
          <a:xfrm>
            <a:off x="6439205" y="3489350"/>
            <a:ext cx="51060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Beyond Language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6439205" y="3782873"/>
            <a:ext cx="50676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ViT (Vision), CLIP, DALL-E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CNN 없이 이미지 처리 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286500" y="5296205"/>
            <a:ext cx="5143500" cy="847649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6409944" y="5458054"/>
            <a:ext cx="48966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"RNN 없는 시퀀스 모델링" 표준 확립</a:t>
            </a:r>
            <a:endParaRPr lang="en-US" sz="14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현대 AI의 Foundation Architecture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9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0"/>
          <p:cNvSpPr txBox="1"/>
          <p:nvPr/>
        </p:nvSpPr>
        <p:spPr>
          <a:xfrm>
            <a:off x="761695" y="6510528"/>
            <a:ext cx="2154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Attention Is All You Need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11009376" y="6510528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김지형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1239</Words>
  <Application>Microsoft Office PowerPoint</Application>
  <PresentationFormat>와이드스크린</PresentationFormat>
  <Paragraphs>301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Noto Sans KR</vt:lpstr>
      <vt:lpstr>Noto Serif KR</vt:lpstr>
      <vt:lpstr>Arial</vt:lpstr>
      <vt:lpstr>Courier New</vt:lpstr>
      <vt:lpstr>Roboto Mono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. user</cp:lastModifiedBy>
  <cp:revision>2</cp:revision>
  <dcterms:created xsi:type="dcterms:W3CDTF">2026-02-19T01:43:02Z</dcterms:created>
  <dcterms:modified xsi:type="dcterms:W3CDTF">2026-02-19T03:24:21Z</dcterms:modified>
</cp:coreProperties>
</file>